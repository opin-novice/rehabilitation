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686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CD6B6"/>
                </a:solidFill>
                <a:latin typeface="Segoe UI"/>
              </a:rPr>
              <a:t>EDGE AI FOR TELE-REHABILITATION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Rehabilitation Exercise Assessment</a:t>
            </a:r>
          </a:p>
          <a:p>
            <a:pPr>
              <a:lnSpc>
                <a:spcPct val="104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with SE(3)-Equivariant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1635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9FB0B8"/>
                </a:solidFill>
                <a:latin typeface="Segoe UI"/>
              </a:rPr>
              <a:t>Engineering problems, design decisions, and measured solutions across the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401568"/>
            <a:ext cx="1371600" cy="31750"/>
          </a:xfrm>
          <a:prstGeom prst="rect">
            <a:avLst/>
          </a:prstGeom>
          <a:solidFill>
            <a:srgbClr val="5C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CD6B6"/>
                </a:solidFill>
                <a:latin typeface="Segoe U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4164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Sayed Ashraful Islam Opin</a:t>
            </a:r>
            <a:r>
              <a:rPr sz="1400">
                <a:solidFill>
                  <a:srgbClr val="9FB0B8"/>
                </a:solidFill>
                <a:latin typeface="Consolas"/>
              </a:rPr>
              <a:t>   2232559042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Ahsanul Karim Raiyan</a:t>
            </a:r>
            <a:r>
              <a:rPr sz="1400">
                <a:solidFill>
                  <a:srgbClr val="9FB0B8"/>
                </a:solidFill>
                <a:latin typeface="Consolas"/>
              </a:rPr>
              <a:t>   2221450642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404164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Susmit Talukder</a:t>
            </a:r>
            <a:r>
              <a:rPr sz="1400">
                <a:solidFill>
                  <a:srgbClr val="9FB0B8"/>
                </a:solidFill>
                <a:latin typeface="Consolas"/>
              </a:rPr>
              <a:t>   2221865042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Natasha Monir Shawon</a:t>
            </a:r>
            <a:r>
              <a:rPr sz="1400">
                <a:solidFill>
                  <a:srgbClr val="9FB0B8"/>
                </a:solidFill>
                <a:latin typeface="Consolas"/>
              </a:rPr>
              <a:t>   2121744642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04688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9FB0B8"/>
                </a:solidFill>
                <a:latin typeface="Segoe UI"/>
              </a:rPr>
              <a:t>128 Python modules in </a:t>
            </a:r>
            <a:r>
              <a:rPr sz="1150" b="0">
                <a:solidFill>
                  <a:srgbClr val="9FB0B8"/>
                </a:solidFill>
                <a:latin typeface="Consolas"/>
              </a:rPr>
              <a:t>src/</a:t>
            </a:r>
            <a:r>
              <a:rPr sz="1250" b="0">
                <a:solidFill>
                  <a:srgbClr val="9FB0B8"/>
                </a:solidFill>
                <a:latin typeface="Segoe UI"/>
              </a:rPr>
              <a:t> · 242 banked result files · 3 research threads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9FB0B8"/>
                </a:solidFill>
                <a:latin typeface="Segoe UI"/>
              </a:rPr>
              <a:t>KIMORE · NTU RGB+D 60 Cross-View · REHAB24-6 · UI-PRMD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9FB0B8"/>
                </a:solidFill>
                <a:latin typeface="Segoe UI"/>
              </a:rPr>
              <a:t>WACV 2026 submission · arXiv extended twin · live webcam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THE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Automated rehabilitation assessment — and why deployment breaks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333D44"/>
                </a:solidFill>
                <a:latin typeface="Segoe UI"/>
              </a:rPr>
              <a:t>The task.</a:t>
            </a:r>
            <a:r>
              <a:rPr sz="1800" b="0">
                <a:solidFill>
                  <a:srgbClr val="333D44"/>
                </a:solidFill>
                <a:latin typeface="Segoe UI"/>
              </a:rPr>
              <a:t> Regress a clinician's 0–50 movement-quality score from a skeleton sequence — 25 Kinect joints, one recording per patient per exercise.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333D44"/>
                </a:solidFill>
                <a:latin typeface="Segoe UI"/>
              </a:rPr>
              <a:t>The lab assumption.</a:t>
            </a:r>
            <a:r>
              <a:rPr sz="1800" b="0">
                <a:solidFill>
                  <a:srgbClr val="333D44"/>
                </a:solidFill>
                <a:latin typeface="Segoe UI"/>
              </a:rPr>
              <a:t> One fixed camera, one fixed frame rate, every joint tracked on every frame.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333D44"/>
                </a:solidFill>
                <a:latin typeface="Segoe UI"/>
              </a:rPr>
              <a:t>The clinic.</a:t>
            </a:r>
            <a:r>
              <a:rPr sz="1800" b="0">
                <a:solidFill>
                  <a:srgbClr val="333D44"/>
                </a:solidFill>
                <a:latin typeface="Segoe UI"/>
              </a:rPr>
              <a:t> The camera gets moved between sessions, the depth sensor drops frames in bursts, and joints vanish behind the body for seconds at a time.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333D44"/>
                </a:solidFill>
                <a:latin typeface="Segoe UI"/>
              </a:rPr>
              <a:t>The baseline family</a:t>
            </a:r>
            <a:r>
              <a:rPr sz="1800" b="0">
                <a:solidFill>
                  <a:srgbClr val="333D44"/>
                </a:solidFill>
                <a:latin typeface="Segoe UI"/>
              </a:rPr>
              <a:t> — point-cloud transformer, TCN, ST-GCN — learns geometry from data. Geometry is then only as reliable as the training distribution was representative.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333D44"/>
                </a:solidFill>
                <a:latin typeface="Segoe UI"/>
              </a:rPr>
              <a:t>The design bet of this project.</a:t>
            </a:r>
            <a:r>
              <a:rPr sz="1800" b="0">
                <a:solidFill>
                  <a:srgbClr val="333D44"/>
                </a:solidFill>
                <a:latin typeface="Segoe UI"/>
              </a:rPr>
              <a:t> Make the invariances </a:t>
            </a:r>
            <a:r>
              <a:rPr sz="1800" b="0" i="1">
                <a:solidFill>
                  <a:srgbClr val="333D44"/>
                </a:solidFill>
                <a:latin typeface="Segoe UI"/>
              </a:rPr>
              <a:t>structural properties of the architecture</a:t>
            </a:r>
            <a:r>
              <a:rPr sz="1800" b="0">
                <a:solidFill>
                  <a:srgbClr val="333D44"/>
                </a:solidFill>
                <a:latin typeface="Segoe UI"/>
              </a:rPr>
              <a:t> — provable and testable to machine precision — instead of hoping augmentation covers the deployment envelope.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src/kimore_cde_data.py · src/models_curvenet.py · docs/reference/PROJECT_BRIEF.md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THE INPUT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Four corpora, four skeleton conventions, one loader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problem.</a:t>
            </a:r>
            <a:r>
              <a:rPr sz="1550" b="0">
                <a:solidFill>
                  <a:srgbClr val="333D44"/>
                </a:solidFill>
                <a:latin typeface="Segoe UI"/>
              </a:rPr>
              <a:t> Every corpus describes a body differently. KIMORE is Kinect v2 with 25 joints and real sensor timestamps in 100-ns ticks; NTU RGB+D uses the same SDK ordering (checked, not assumed); REHAB24-6 is OptiTrack with 26 markers needing an anatomical remap onto those 25; UI-PRMD differs again.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Every preprocessing step has to be equivariance-safe</a:t>
            </a:r>
            <a:r>
              <a:rPr sz="1550" b="0">
                <a:solidFill>
                  <a:srgbClr val="333D44"/>
                </a:solidFill>
                <a:latin typeface="Segoe UI"/>
              </a:rPr>
              <a:t>, or the theorem is lost before the model sees anything. Root-relative coordinates give translation invariance; per-sequence scaling uses the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median joint radius</a:t>
            </a:r>
            <a:r>
              <a:rPr sz="1550" b="0">
                <a:solidFill>
                  <a:srgbClr val="333D44"/>
                </a:solidFill>
                <a:latin typeface="Segoe UI"/>
              </a:rPr>
              <a:t>, a type-0 scalar that commutes with rotation; time is divided by a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global</a:t>
            </a:r>
            <a:r>
              <a:rPr sz="1550" b="0">
                <a:solidFill>
                  <a:srgbClr val="333D44"/>
                </a:solidFill>
                <a:latin typeface="Segoe UI"/>
              </a:rPr>
              <a:t> constant, because a per-sequence one would erase the clinical duration cue.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loader never invents an arrival time.</a:t>
            </a:r>
            <a:r>
              <a:rPr sz="1550" b="0">
                <a:solidFill>
                  <a:srgbClr val="333D44"/>
                </a:solidFill>
                <a:latin typeface="Segoe UI"/>
              </a:rPr>
              <a:t> Length capping is uniform index subsampling that keeps the real timestamps, so the irregular-sampling claim is not quietly manufactured by the data path it is meant to test.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demo re-implements the identical preprocessing byte for byte</a:t>
            </a:r>
            <a:r>
              <a:rPr sz="1550" b="0">
                <a:solidFill>
                  <a:srgbClr val="333D44"/>
                </a:solidFill>
                <a:latin typeface="Segoe UI"/>
              </a:rPr>
              <a:t>, so what the model sees live differs from training only in domain, not in kind.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Why this gets its own slide.</a:t>
            </a:r>
            <a:r>
              <a:rPr sz="1550" b="0">
                <a:solidFill>
                  <a:srgbClr val="333D44"/>
                </a:solidFill>
                <a:latin typeface="Segoe UI"/>
              </a:rPr>
              <a:t> A mis-mapped joint or an invented timestamp does not crash anything. It silently moves a number that nobody can then trace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src/kimore_cde_data.py · src/ntu_dataset.py · src/load_rehab246.py · demo/mp_to_kinect.py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0 —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Three paradigms proposed, two killed before a line of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2216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5852160"/>
                <a:gridCol w="1819656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Proposal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Fatal attack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A — Neural biomechanical controller
(infer torques, mass matrix, impairment)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Non-identifiable: mass, potential and torque are underdetermined from position-only data. Also needs double differentiation of noisy joints.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Killed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B — Hyperbolic × SE(3) geometry
(tree in ℍⁿ, pose in SO(3))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The hyperbolic half is marginal at skeleton scale — ~25 nodes, depth ~5, which Euclidean space embeds fine in 16–32 dims.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Half kept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C — Optimal-transport bridge
(distance to a “health manifold”)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OT needs distributions; a clinic gives one trajectory. Heavy and unstable against a competitor whose brand is CPU real-time.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Killed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230368"/>
            <a:ext cx="1087495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333D44"/>
                </a:solidFill>
                <a:latin typeface="Segoe UI"/>
              </a:rPr>
              <a:t>The survivor is a synthesis: </a:t>
            </a:r>
            <a:r>
              <a:rPr sz="1400" b="1">
                <a:solidFill>
                  <a:srgbClr val="333D44"/>
                </a:solidFill>
                <a:latin typeface="Segoe UI"/>
              </a:rPr>
              <a:t>SE(3)-equivariance</a:t>
            </a:r>
            <a:r>
              <a:rPr sz="1400" b="0">
                <a:solidFill>
                  <a:srgbClr val="333D44"/>
                </a:solidFill>
                <a:latin typeface="Segoe UI"/>
              </a:rPr>
              <a:t> from B plus </a:t>
            </a:r>
            <a:r>
              <a:rPr sz="1400" b="1">
                <a:solidFill>
                  <a:srgbClr val="333D44"/>
                </a:solidFill>
                <a:latin typeface="Segoe UI"/>
              </a:rPr>
              <a:t>continuous time</a:t>
            </a:r>
            <a:r>
              <a:rPr sz="1400" b="0">
                <a:solidFill>
                  <a:srgbClr val="333D44"/>
                </a:solidFill>
                <a:latin typeface="Segoe UI"/>
              </a:rPr>
              <a:t> from A, minus the identifiability-killing force decomposition. Both surviving claims are provable structural properties, not empirical hopes.</a:t>
            </a:r>
          </a:p>
          <a:p>
            <a:pPr marL="274320" indent="-27432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333D44"/>
                </a:solidFill>
                <a:latin typeface="Segoe UI"/>
              </a:rPr>
              <a:t>Killing a paradigm on validity grounds costs days. Killing it after implementation costs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docs/reference/PROJECT_BRIEF.md §2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Where the guarantee is manufactured — and where it is discharged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Root-relative coordinates.</a:t>
            </a:r>
            <a:r>
              <a:rPr sz="1550" b="0">
                <a:solidFill>
                  <a:srgbClr val="333D44"/>
                </a:solidFill>
                <a:latin typeface="Segoe UI"/>
              </a:rPr>
              <a:t> Subtracting the spine base makes translation invariance automatic — a constant that is removed, not learned.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Steerable encoder.</a:t>
            </a:r>
            <a:r>
              <a:rPr sz="1550" b="0">
                <a:solidFill>
                  <a:srgbClr val="333D44"/>
                </a:solidFill>
                <a:latin typeface="Segoe UI"/>
              </a:rPr>
              <a:t> Bone vectors → spherical harmonics (ℓ≤2) → Clebsch–Gordan-constrained tensor products (e3nn). The radial weights are functions of ‖r‖ only, so they are invariant scalars and cannot leak orientation.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No bias on any non-scalar channel.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only vector fixed by the whole rotation group is zero, so a learnable bias on a type-1 channel silently breaks equivariance. Every steerable layer is built with </a:t>
            </a:r>
            <a:r>
              <a:rPr sz="1450" b="0">
                <a:solidFill>
                  <a:srgbClr val="333D44"/>
                </a:solidFill>
                <a:latin typeface="Consolas"/>
              </a:rPr>
              <a:t>biases=False</a:t>
            </a:r>
            <a:r>
              <a:rPr sz="1550" b="0">
                <a:solidFill>
                  <a:srgbClr val="333D44"/>
                </a:solidFill>
                <a:latin typeface="Segoe UI"/>
              </a:rPr>
              <a:t>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invariant cut Π</a:t>
            </a:r>
            <a:r>
              <a:rPr sz="1550" b="0">
                <a:solidFill>
                  <a:srgbClr val="333D44"/>
                </a:solidFill>
                <a:latin typeface="Segoe UI"/>
              </a:rPr>
              <a:t> — the one place the theorem is discharged: 32 scalars + 8 vector norms + 28 cosines, pooled to 136, plus 24 bone lengths = </a:t>
            </a:r>
            <a:r>
              <a:rPr sz="1550" b="1">
                <a:solidFill>
                  <a:srgbClr val="333D44"/>
                </a:solidFill>
                <a:latin typeface="Segoe UI"/>
              </a:rPr>
              <a:t>160-d parity-even</a:t>
            </a:r>
            <a:r>
              <a:rPr sz="1550" b="0">
                <a:solidFill>
                  <a:srgbClr val="333D44"/>
                </a:solidFill>
                <a:latin typeface="Segoe UI"/>
              </a:rPr>
              <a:t>; plus 56 triple products pooled to 112 and 11 anatomical volumes = 123-d parity-odd. </a:t>
            </a:r>
            <a:r>
              <a:rPr sz="1550" b="1">
                <a:solidFill>
                  <a:srgbClr val="333D44"/>
                </a:solidFill>
                <a:latin typeface="Segoe UI"/>
              </a:rPr>
              <a:t>283-d</a:t>
            </a:r>
            <a:r>
              <a:rPr sz="1550" b="0">
                <a:solidFill>
                  <a:srgbClr val="333D44"/>
                </a:solidFill>
                <a:latin typeface="Segoe UI"/>
              </a:rPr>
              <a:t> in total.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Cosines, not raw dot products.</a:t>
            </a:r>
            <a:r>
              <a:rPr sz="1550" b="0">
                <a:solidFill>
                  <a:srgbClr val="333D44"/>
                </a:solidFill>
                <a:latin typeface="Segoe UI"/>
              </a:rPr>
              <a:t> Unnormalised quadratic dots once drove predictions into the hundreds — the fix is in the feature definition, not in a clamp.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Recurrence on real inter-arrival times.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GRU consumes the actual Δt between samples rather than a frame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src/equivariant_gru.py · src/chirality.py · paper/arxiv_extended/methodology.tex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1 — NUMERICS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The architecture is exactly equivariant. Is the integrator?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so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54537"/>
            <a:ext cx="5943600" cy="3899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755648"/>
            <a:ext cx="4718304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Fixed-step explicit RK is safe.</a:t>
            </a:r>
            <a:r>
              <a:rPr sz="1350" b="0">
                <a:solidFill>
                  <a:srgbClr val="333D44"/>
                </a:solidFill>
                <a:latin typeface="Segoe UI"/>
              </a:rPr>
              <a:t> Butcher coefficients are scalars, so they commute with every equivariant operation — exact to roundoff, and independent of step size.</a:t>
            </a:r>
          </a:p>
          <a:p>
            <a:pPr marL="274320" indent="-27432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Adaptive stepping is not.</a:t>
            </a:r>
            <a:r>
              <a:rPr sz="1350" b="0">
                <a:solidFill>
                  <a:srgbClr val="333D44"/>
                </a:solidFill>
                <a:latin typeface="Segoe UI"/>
              </a:rPr>
              <a:t> </a:t>
            </a:r>
            <a:r>
              <a:rPr sz="1250" b="0">
                <a:solidFill>
                  <a:srgbClr val="333D44"/>
                </a:solidFill>
                <a:latin typeface="Consolas"/>
              </a:rPr>
              <a:t>dopri5</a:t>
            </a:r>
            <a:r>
              <a:rPr sz="1350" b="0">
                <a:solidFill>
                  <a:srgbClr val="333D44"/>
                </a:solidFill>
                <a:latin typeface="Segoe UI"/>
              </a:rPr>
              <a:t> scales each error component by its own magnitude, but a rotation preserves only the </a:t>
            </a:r>
            <a:r>
              <a:rPr sz="1350" b="0" i="1">
                <a:solidFill>
                  <a:srgbClr val="333D44"/>
                </a:solidFill>
                <a:latin typeface="Segoe UI"/>
              </a:rPr>
              <a:t>L2 norm of each irrep block</a:t>
            </a:r>
            <a:r>
              <a:rPr sz="1350" b="0">
                <a:solidFill>
                  <a:srgbClr val="333D44"/>
                </a:solidFill>
                <a:latin typeface="Segoe UI"/>
              </a:rPr>
              <a:t>, not per-component magnitudes.</a:t>
            </a:r>
          </a:p>
          <a:p>
            <a:pPr marL="274320" indent="-27432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sz="1350" b="0">
                <a:solidFill>
                  <a:srgbClr val="333D44"/>
                </a:solidFill>
                <a:latin typeface="Segoe UI"/>
              </a:rPr>
              <a:t>Formally, invariance needs [ρ(g), W²] = 0 — generically false for the default W even when ρ(g) is orthogonal. The rotated and unrotated runs then take </a:t>
            </a:r>
            <a:r>
              <a:rPr sz="1350" b="1">
                <a:solidFill>
                  <a:srgbClr val="333D44"/>
                </a:solidFill>
                <a:latin typeface="Segoe UI"/>
              </a:rPr>
              <a:t>different step grids</a:t>
            </a:r>
            <a:r>
              <a:rPr sz="1350" b="0">
                <a:solidFill>
                  <a:srgbClr val="333D44"/>
                </a:solidFill>
                <a:latin typeface="Segoe UI"/>
              </a:rPr>
              <a:t>.</a:t>
            </a:r>
          </a:p>
          <a:p>
            <a:pPr marL="274320" indent="-27432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Fix:</a:t>
            </a:r>
            <a:r>
              <a:rPr sz="1350" b="0">
                <a:solidFill>
                  <a:srgbClr val="333D44"/>
                </a:solidFill>
                <a:latin typeface="Segoe UI"/>
              </a:rPr>
              <a:t> a per-irrep isotropic error norm </a:t>
            </a:r>
            <a:r>
              <a:rPr sz="1250" b="0">
                <a:solidFill>
                  <a:srgbClr val="333D44"/>
                </a:solidFill>
                <a:latin typeface="Consolas"/>
              </a:rPr>
              <a:t>N_eq</a:t>
            </a:r>
            <a:r>
              <a:rPr sz="1350" b="0">
                <a:solidFill>
                  <a:srgbClr val="333D44"/>
                </a:solidFill>
                <a:latin typeface="Segoe UI"/>
              </a:rPr>
              <a:t> = sqrt( (1/F) Σ_f (1/d_f)·‖e_f‖² ), invariant because each block norm is.</a:t>
            </a:r>
          </a:p>
          <a:p>
            <a:pPr marL="274320" indent="-27432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sz="1350" b="0">
                <a:solidFill>
                  <a:srgbClr val="333D44"/>
                </a:solidFill>
                <a:latin typeface="Segoe UI"/>
              </a:rPr>
              <a:t>Step-grid divergence goes to </a:t>
            </a:r>
            <a:r>
              <a:rPr sz="1350" b="1">
                <a:solidFill>
                  <a:srgbClr val="333D44"/>
                </a:solidFill>
                <a:latin typeface="Segoe UI"/>
              </a:rPr>
              <a:t>exactly zero</a:t>
            </a:r>
            <a:r>
              <a:rPr sz="1350" b="0">
                <a:solidFill>
                  <a:srgbClr val="333D44"/>
                </a:solidFill>
                <a:latin typeface="Segoe UI"/>
              </a:rPr>
              <a:t>, and the fix survives replacing the mock field with real e3nn layers — the most likely silent-break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src/equivariance_suite.py · docs/reference/outputs_equivariance_certificate.txt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DESIGN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Certification is a gate that can fail — not a claim in the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2216" cy="2816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6126480"/>
                <a:gridCol w="1828800"/>
                <a:gridCol w="2185416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it tests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Threshold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Encoder equivariance  h(g·x) = ρ(g)h(x)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≤ 1e-12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2.41e-16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E2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Read-out invariance  s(g·x) = s(x)  — the theorem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≤ 1e-12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8.67e-16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Violation vs rotation magnitude (log–log slope)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≈ 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0.039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E4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fp32 / fp64 ratio — is the residual just roundoff?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≥ 1e5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1.23e+08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E5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Translation invariance on raw world coordinates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≤ 1e-12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5.21e-16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E8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Full SO(3) with parity-odd channels active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≤ 1e-12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D44"/>
                          </a:solidFill>
                          <a:latin typeface="Segoe UI"/>
                        </a:rPr>
                        <a:t>2.49e-16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709160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450" b="1">
                <a:solidFill>
                  <a:srgbClr val="333D44"/>
                </a:solidFill>
                <a:latin typeface="Segoe UI"/>
              </a:rPr>
              <a:t>Build the control that must fail.</a:t>
            </a:r>
            <a:r>
              <a:rPr sz="1450" b="0">
                <a:solidFill>
                  <a:srgbClr val="333D44"/>
                </a:solidFill>
                <a:latin typeface="Segoe UI"/>
              </a:rPr>
              <a:t> A deliberately non-equivariant vector field is run through the same gates and must be rejected: drift 1.18e-02 and a precision ratio of </a:t>
            </a:r>
            <a:r>
              <a:rPr sz="1450" b="1">
                <a:solidFill>
                  <a:srgbClr val="333D44"/>
                </a:solidFill>
                <a:latin typeface="Segoe UI"/>
              </a:rPr>
              <a:t>1.000</a:t>
            </a:r>
            <a:r>
              <a:rPr sz="1450" b="0">
                <a:solidFill>
                  <a:srgbClr val="333D44"/>
                </a:solidFill>
                <a:latin typeface="Segoe UI"/>
              </a:rPr>
              <a:t> against the real model's 1.2e+08. A test that cannot fail proves nothing.</a:t>
            </a:r>
          </a:p>
          <a:p>
            <a:pPr marL="274320" indent="-27432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450" b="1">
                <a:solidFill>
                  <a:srgbClr val="333D44"/>
                </a:solidFill>
                <a:latin typeface="Segoe UI"/>
              </a:rPr>
              <a:t>E4 is what separates roundoff from a hidden violation.</a:t>
            </a:r>
            <a:r>
              <a:rPr sz="1450" b="0">
                <a:solidFill>
                  <a:srgbClr val="333D44"/>
                </a:solidFill>
                <a:latin typeface="Segoe UI"/>
              </a:rPr>
              <a:t> A genuine symmetry break would not shrink eight orders of magnitude when you move from fp32 to fp64.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src/certify_egru.py · outputs/cde_block2/certify_egru.json · src/equivariance_suite.py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2 —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The ±0.33 MAD “hardware noise floor” was not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stakes, stated as a number.</a:t>
            </a:r>
            <a:r>
              <a:rPr sz="1550" b="0">
                <a:solidFill>
                  <a:srgbClr val="333D44"/>
                </a:solidFill>
                <a:latin typeface="Segoe UI"/>
              </a:rPr>
              <a:t> Repeated runs of the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same</a:t>
            </a:r>
            <a:r>
              <a:rPr sz="1550" b="0">
                <a:solidFill>
                  <a:srgbClr val="333D44"/>
                </a:solidFill>
                <a:latin typeface="Segoe UI"/>
              </a:rPr>
              <a:t> configuration differed by ±0.33 MAD. The entire effect being claimed is floor 8.31 minus model ≈ 6.6, about </a:t>
            </a:r>
            <a:r>
              <a:rPr sz="1550" b="1">
                <a:solidFill>
                  <a:srgbClr val="333D44"/>
                </a:solidFill>
                <a:latin typeface="Segoe UI"/>
              </a:rPr>
              <a:t>1.65 MAD</a:t>
            </a:r>
            <a:r>
              <a:rPr sz="1550" b="0">
                <a:solidFill>
                  <a:srgbClr val="333D44"/>
                </a:solidFill>
                <a:latin typeface="Segoe UI"/>
              </a:rPr>
              <a:t> — so the noise was 20% of the signal and wider than every model-vs-model gap in the paper.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Two nondeterministic kernels, not one.</a:t>
            </a:r>
            <a:r>
              <a:rPr sz="1550" b="0">
                <a:solidFill>
                  <a:srgbClr val="333D44"/>
                </a:solidFill>
                <a:latin typeface="Segoe UI"/>
              </a:rPr>
              <a:t> e3nn's </a:t>
            </a:r>
            <a:r>
              <a:rPr sz="1450" b="0">
                <a:solidFill>
                  <a:srgbClr val="333D44"/>
                </a:solidFill>
                <a:latin typeface="Consolas"/>
              </a:rPr>
              <a:t>index_add_</a:t>
            </a:r>
            <a:r>
              <a:rPr sz="1550" b="0">
                <a:solidFill>
                  <a:srgbClr val="333D44"/>
                </a:solidFill>
                <a:latin typeface="Segoe UI"/>
              </a:rPr>
              <a:t> resolves CUDA write collisions with atomic adds, making fp32 summation order-dependent; cuDNN's fused GRU backward does the same. Fixing either alone leaves a floor.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Fix 1 — change the reduction, not the maths.</a:t>
            </a:r>
            <a:r>
              <a:rPr sz="1550" b="0">
                <a:solidFill>
                  <a:srgbClr val="333D44"/>
                </a:solidFill>
                <a:latin typeface="Segoe UI"/>
              </a:rPr>
              <a:t> Replace scatter aggregation with a dense incidence matmul </a:t>
            </a:r>
            <a:r>
              <a:rPr sz="1450" b="0">
                <a:solidFill>
                  <a:srgbClr val="333D44"/>
                </a:solidFill>
                <a:latin typeface="Consolas"/>
              </a:rPr>
              <a:t>einsum('je,nec-&gt;njc', A, m)</a:t>
            </a:r>
            <a:r>
              <a:rPr sz="1550" b="0">
                <a:solidFill>
                  <a:srgbClr val="333D44"/>
                </a:solidFill>
                <a:latin typeface="Segoe UI"/>
              </a:rPr>
              <a:t>: identical sum, fixed order, numerically equivalent — so </a:t>
            </a:r>
            <a:r>
              <a:rPr sz="1550" b="1">
                <a:solidFill>
                  <a:srgbClr val="333D44"/>
                </a:solidFill>
                <a:latin typeface="Segoe UI"/>
              </a:rPr>
              <a:t>existing checkpoints stay valid</a:t>
            </a:r>
            <a:r>
              <a:rPr sz="1550" b="0">
                <a:solidFill>
                  <a:srgbClr val="333D44"/>
                </a:solidFill>
                <a:latin typeface="Segoe UI"/>
              </a:rPr>
              <a:t>, which gate G1 asserts to 1e-12 in fp64.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Fix 2 — pin the environment before CUDA exists.</a:t>
            </a:r>
            <a:r>
              <a:rPr sz="1550" b="0">
                <a:solidFill>
                  <a:srgbClr val="333D44"/>
                </a:solidFill>
                <a:latin typeface="Segoe UI"/>
              </a:rPr>
              <a:t> </a:t>
            </a:r>
            <a:r>
              <a:rPr sz="1450" b="0">
                <a:solidFill>
                  <a:srgbClr val="333D44"/>
                </a:solidFill>
                <a:latin typeface="Consolas"/>
              </a:rPr>
              <a:t>CUBLAS_WORKSPACE_CONFIG=:4096:8</a:t>
            </a:r>
            <a:r>
              <a:rPr sz="1550" b="0">
                <a:solidFill>
                  <a:srgbClr val="333D44"/>
                </a:solidFill>
                <a:latin typeface="Segoe UI"/>
              </a:rPr>
              <a:t> is set at module import, ahead of any CUDA context, alongside deterministic algorithms and an unfused GRU.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Outcome.</a:t>
            </a:r>
            <a:r>
              <a:rPr sz="1550" b="0">
                <a:solidFill>
                  <a:srgbClr val="333D44"/>
                </a:solidFill>
                <a:latin typeface="Segoe UI"/>
              </a:rPr>
              <a:t> Bitwise-identical forwards and gradients. The seed-to-seed spread (0.48) is now reported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separately</a:t>
            </a:r>
            <a:r>
              <a:rPr sz="1550" b="0">
                <a:solidFill>
                  <a:srgbClr val="333D44"/>
                </a:solidFill>
                <a:latin typeface="Segoe UI"/>
              </a:rPr>
              <a:t> from the fixed-configuration spread (0.33) instead of the two being conflated into one vague “noise”.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src/determinism.py · src/certify_phase1.py · docs/planning/wacv_evaluation_and_action_plan.md (V3)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3 — EXPERIMENT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Making “you sabotaged the baseline” unarguable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Cryptographic input identity.</a:t>
            </a:r>
            <a:r>
              <a:rPr sz="1550" b="0">
                <a:solidFill>
                  <a:srgbClr val="333D44"/>
                </a:solidFill>
                <a:latin typeface="Segoe UI"/>
              </a:rPr>
              <a:t> Every robustness experiment routes byte-identical corrupted timelines to both models, and asserts an equal </a:t>
            </a:r>
            <a:r>
              <a:rPr sz="1550" b="1">
                <a:solidFill>
                  <a:srgbClr val="333D44"/>
                </a:solidFill>
                <a:latin typeface="Segoe UI"/>
              </a:rPr>
              <a:t>SHA-256 hash</a:t>
            </a:r>
            <a:r>
              <a:rPr sz="1550" b="0">
                <a:solidFill>
                  <a:srgbClr val="333D44"/>
                </a:solidFill>
                <a:latin typeface="Segoe UI"/>
              </a:rPr>
              <a:t> of the input at every corruption level and every seed. A promise is replaced by a check.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baseline gets its best case.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transformer architecturally requires a uniform T×J×3 grid, so it must resample. It is given the better of linear, cubic and forward-fill — not a strawman — and the resampling happens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inside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shared engine.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Self-referential metric.</a:t>
            </a:r>
            <a:r>
              <a:rPr sz="1550" b="0">
                <a:solidFill>
                  <a:srgbClr val="333D44"/>
                </a:solidFill>
                <a:latin typeface="Segoe UI"/>
              </a:rPr>
              <a:t> Each model is scored against its own clean prediction, so no cross-model scaling can bake in an advantage.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Named failure modes, not uniform noise.</a:t>
            </a:r>
            <a:r>
              <a:rPr sz="1550" b="0">
                <a:solidFill>
                  <a:srgbClr val="333D44"/>
                </a:solidFill>
                <a:latin typeface="Segoe UI"/>
              </a:rPr>
              <a:t> Gilbert–Elliott burst drops (real dropouts cluster), Gaussian + AR(1) timestamp jitter under a monotonicity clamp, and Gamma inter-arrivals for 30→10 fps throttling.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Calibrated against reality.</a:t>
            </a:r>
            <a:r>
              <a:rPr sz="1550" b="0">
                <a:solidFill>
                  <a:srgbClr val="333D44"/>
                </a:solidFill>
                <a:latin typeface="Segoe UI"/>
              </a:rPr>
              <a:t> 398 KIMORE recordings scanned, 143 with a genuine dropout, 20 clearing the full CV ≥ 0.2 plus burst-gap bar; the synthetic sweep must match the real anchor's statistics within 20% before it is allowed to stand in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src/resilience_sweep.py · src/corruption_pipeline.py · src/irregular_data.py · src/block23_experiments.py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3B — WHAT A ROBUSTNESS PLOT 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A model that ignores its input has zero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500"/>
              </a:spcAft>
              <a:buFont typeface="Arial"/>
              <a:buChar char="•"/>
            </a:pPr>
            <a:r>
              <a:rPr sz="1700" b="0">
                <a:solidFill>
                  <a:srgbClr val="333D44"/>
                </a:solidFill>
                <a:latin typeface="Segoe UI"/>
              </a:rPr>
              <a:t>… and would therefore win every robustness plot ever drawn. </a:t>
            </a:r>
            <a:r>
              <a:rPr sz="1700" b="1">
                <a:solidFill>
                  <a:srgbClr val="333D44"/>
                </a:solidFill>
                <a:latin typeface="Segoe UI"/>
              </a:rPr>
              <a:t>Degradation is not admissible on its own</a:t>
            </a:r>
            <a:r>
              <a:rPr sz="1700" b="0">
                <a:solidFill>
                  <a:srgbClr val="333D44"/>
                </a:solidFill>
                <a:latin typeface="Segoe UI"/>
              </a:rPr>
              <a:t> — it is only interpretable next to absolute accuracy.</a:t>
            </a:r>
          </a:p>
          <a:p>
            <a:pPr marL="274320" indent="-274320">
              <a:lnSpc>
                <a:spcPct val="112000"/>
              </a:lnSpc>
              <a:spcAft>
                <a:spcPts val="1500"/>
              </a:spcAft>
              <a:buFont typeface="Arial"/>
              <a:buChar char="•"/>
            </a:pPr>
            <a:r>
              <a:rPr sz="1700" b="1">
                <a:solidFill>
                  <a:srgbClr val="333D44"/>
                </a:solidFill>
                <a:latin typeface="Segoe UI"/>
              </a:rPr>
              <a:t>The signal gate.</a:t>
            </a:r>
            <a:r>
              <a:rPr sz="1700" b="0">
                <a:solidFill>
                  <a:srgbClr val="333D44"/>
                </a:solidFill>
                <a:latin typeface="Segoe UI"/>
              </a:rPr>
              <a:t> Every fold is checked against a per-exercise mean-predictor floor of </a:t>
            </a:r>
            <a:r>
              <a:rPr sz="1700" b="1">
                <a:solidFill>
                  <a:srgbClr val="333D44"/>
                </a:solidFill>
                <a:latin typeface="Segoe UI"/>
              </a:rPr>
              <a:t>8.31 MAD</a:t>
            </a:r>
            <a:r>
              <a:rPr sz="1700" b="0">
                <a:solidFill>
                  <a:srgbClr val="333D44"/>
                </a:solidFill>
                <a:latin typeface="Segoe UI"/>
              </a:rPr>
              <a:t>. A run that fails to beat the floor is marked NO-SIGNAL, its degradation columns are declared uninterpretable, and </a:t>
            </a:r>
            <a:r>
              <a:rPr sz="1600" b="0">
                <a:solidFill>
                  <a:srgbClr val="333D44"/>
                </a:solidFill>
                <a:latin typeface="Consolas"/>
              </a:rPr>
              <a:t>--strict</a:t>
            </a:r>
            <a:r>
              <a:rPr sz="1700" b="0">
                <a:solidFill>
                  <a:srgbClr val="333D44"/>
                </a:solidFill>
                <a:latin typeface="Segoe UI"/>
              </a:rPr>
              <a:t> aborts the run outright.</a:t>
            </a:r>
          </a:p>
          <a:p>
            <a:pPr marL="274320" indent="-274320">
              <a:lnSpc>
                <a:spcPct val="112000"/>
              </a:lnSpc>
              <a:spcAft>
                <a:spcPts val="1500"/>
              </a:spcAft>
              <a:buFont typeface="Arial"/>
              <a:buChar char="•"/>
            </a:pPr>
            <a:r>
              <a:rPr sz="1700" b="1">
                <a:solidFill>
                  <a:srgbClr val="333D44"/>
                </a:solidFill>
                <a:latin typeface="Segoe UI"/>
              </a:rPr>
              <a:t>This gate killed our own first architecture.</a:t>
            </a:r>
            <a:r>
              <a:rPr sz="1700" b="0">
                <a:solidFill>
                  <a:srgbClr val="333D44"/>
                </a:solidFill>
                <a:latin typeface="Segoe UI"/>
              </a:rPr>
              <a:t> The continuous-time Neural CDE — the original thesis — scored 8.43 against the 8.25 floor measured on that run. Its degradation curve was beautifully flat and completely meaningless. It was demoted to a control instead of being reported as robust.</a:t>
            </a:r>
          </a:p>
          <a:p>
            <a:pPr marL="274320" indent="-274320">
              <a:lnSpc>
                <a:spcPct val="112000"/>
              </a:lnSpc>
              <a:spcAft>
                <a:spcPts val="1500"/>
              </a:spcAft>
              <a:buFont typeface="Arial"/>
              <a:buChar char="•"/>
            </a:pPr>
            <a:r>
              <a:rPr sz="1700" b="1">
                <a:solidFill>
                  <a:srgbClr val="333D44"/>
                </a:solidFill>
                <a:latin typeface="Segoe UI"/>
              </a:rPr>
              <a:t>The same discipline retired a second claim.</a:t>
            </a:r>
            <a:r>
              <a:rPr sz="1700" b="0">
                <a:solidFill>
                  <a:srgbClr val="333D44"/>
                </a:solidFill>
                <a:latin typeface="Segoe UI"/>
              </a:rPr>
              <a:t> Selecting the training epoch on the test set inflates results by </a:t>
            </a:r>
            <a:r>
              <a:rPr sz="1700" b="1">
                <a:solidFill>
                  <a:srgbClr val="333D44"/>
                </a:solidFill>
                <a:latin typeface="Segoe UI"/>
              </a:rPr>
              <a:t>+1.22 MAD (18.6%)</a:t>
            </a:r>
            <a:r>
              <a:rPr sz="1700" b="0">
                <a:solidFill>
                  <a:srgbClr val="333D44"/>
                </a:solidFill>
                <a:latin typeface="Segoe UI"/>
              </a:rPr>
              <a:t> across three seeds, so every number reported is validation-selected — including the ones that then look weaker.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src/block23_experiments.py · src/protocol_null.py · src/train_cde.py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RESULT —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Viewpoint: a guarantee versus a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view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5927"/>
            <a:ext cx="5943600" cy="4277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755648"/>
            <a:ext cx="4718304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Certified models are flat by theorem:</a:t>
            </a:r>
            <a:r>
              <a:rPr sz="1350" b="0">
                <a:solidFill>
                  <a:srgbClr val="333D44"/>
                </a:solidFill>
                <a:latin typeface="Segoe UI"/>
              </a:rPr>
              <a:t> EGRU 9.1e-06, InvariantGRU 0, Ridge 0 worst-case degradation.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Three independently designed non-equivariant families all fail:</a:t>
            </a:r>
            <a:r>
              <a:rPr sz="1350" b="0">
                <a:solidFill>
                  <a:srgbClr val="333D44"/>
                </a:solidFill>
                <a:latin typeface="Segoe UI"/>
              </a:rPr>
              <a:t> PCT 9.42, ST-GCN 9.18, TCN 13.17 MAD — every one crossing the mean-predictor floor. The fragility is structural, not one competitor's bug.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Augmentation is a partial fix that looks total.</a:t>
            </a:r>
            <a:r>
              <a:rPr sz="1350" b="0">
                <a:solidFill>
                  <a:srgbClr val="333D44"/>
                </a:solidFill>
                <a:latin typeface="Segoe UI"/>
              </a:rPr>
              <a:t> PCT + rotation augmentation is flat in aggregate, yet still moves </a:t>
            </a:r>
            <a:r>
              <a:rPr sz="1350" b="1">
                <a:solidFill>
                  <a:srgbClr val="333D44"/>
                </a:solidFill>
                <a:latin typeface="Segoe UI"/>
              </a:rPr>
              <a:t>3.03 MAD per sequence</a:t>
            </a:r>
            <a:r>
              <a:rPr sz="1350" b="0">
                <a:solidFill>
                  <a:srgbClr val="333D44"/>
                </a:solidFill>
                <a:latin typeface="Segoe UI"/>
              </a:rPr>
              <a:t> — which is the number an individual patient actually experiences.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Certified on real hardware, not just synthetic rotations.</a:t>
            </a:r>
            <a:r>
              <a:rPr sz="1350" b="0">
                <a:solidFill>
                  <a:srgbClr val="333D44"/>
                </a:solidFill>
                <a:latin typeface="Segoe UI"/>
              </a:rPr>
              <a:t> NTU RGB+D Cross-View with a physically different 45° camera: 5.8e-09. Second corpus REHAB24-6 at 90°: AUROC 0.738 unchanged, logit drift 1.5e-04 against the transformer's 23.2.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outputs/cde_block2/final_tables.json · src/block3_baselines.py · outputs/rehab246/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THE HONEST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What the guarantee does not buy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2216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3200400"/>
                <a:gridCol w="5385816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Claim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anchor="ctr" marL="91440" marR="73152" marT="27432" marB="27432">
                    <a:solidFill>
                      <a:srgbClr val="2B3A4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Clean accuracy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A tie, not a win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PCT 6.46 · InvariantGRU 6.31 · EGRU 6.73   (floor 8.31)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Sensor-node failure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The transformer is genuinely best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MAD lost, 0→8 dead joints:  PCT +2.27 · EGRU +3.76 · InvariantGRU +12.05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Irregular sampling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Null on this corpus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The grid-free advantage does not materialise — the transformer degrades less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Chirality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Principled, unrewarded here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D44"/>
                          </a:solidFill>
                          <a:latin typeface="Segoe UI"/>
                        </a:rPr>
                        <a:t>+0.11 MAD for +16.7% parameters; KIMORE has no chiral pathology to detect</a:t>
                      </a:r>
                    </a:p>
                  </a:txBody>
                  <a:tcPr anchor="ctr" marL="91440" marR="73152" marT="27432" marB="27432"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8348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sz="1400" b="1">
                <a:solidFill>
                  <a:srgbClr val="333D44"/>
                </a:solidFill>
                <a:latin typeface="Segoe UI"/>
              </a:rPr>
              <a:t>The sampling null is predicted, not merely observed.</a:t>
            </a:r>
            <a:r>
              <a:rPr sz="1400" b="0">
                <a:solidFill>
                  <a:srgbClr val="333D44"/>
                </a:solidFill>
                <a:latin typeface="Segoe UI"/>
              </a:rPr>
              <a:t> A spectral census puts 97.7% of positional energy below the resampling corner (2.19 Hz), so the operator we avoid destroys only 2.2% of it. The claim only has teeth where the task depends on the velocity band — 70% of which sits above the corner.</a:t>
            </a:r>
          </a:p>
          <a:p>
            <a:pPr marL="274320" indent="-27432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333D44"/>
                </a:solidFill>
                <a:latin typeface="Segoe UI"/>
              </a:rPr>
              <a:t>All four rows are in the paper. A negative result you can </a:t>
            </a:r>
            <a:r>
              <a:rPr sz="1400" b="1">
                <a:solidFill>
                  <a:srgbClr val="333D44"/>
                </a:solidFill>
                <a:latin typeface="Segoe UI"/>
              </a:rPr>
              <a:t>derive</a:t>
            </a:r>
            <a:r>
              <a:rPr sz="1400" b="0">
                <a:solidFill>
                  <a:srgbClr val="333D44"/>
                </a:solidFill>
                <a:latin typeface="Segoe UI"/>
              </a:rPr>
              <a:t> is stronger evidence of understanding than a positive one you stumbled 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outputs/cde_block2/final_tables.json · src/bandwidth_law.py · outputs/cde_block2/block5_bandwidth_law.json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4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Equivariance has a precision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03659"/>
            <a:ext cx="5943600" cy="3601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755648"/>
            <a:ext cx="4718304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Why there is a budget at all.</a:t>
            </a:r>
            <a:r>
              <a:rPr sz="1350" b="0">
                <a:solidFill>
                  <a:srgbClr val="333D44"/>
                </a:solidFill>
                <a:latin typeface="Segoe UI"/>
              </a:rPr>
              <a:t> Quantisation is not an orthogonal map, so it does not commute with ρ(g). The theorem is exact in real arithmetic and has a numerical floor in every format a device actually runs.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fp16 beats bf16 by 3.2×</a:t>
            </a:r>
            <a:r>
              <a:rPr sz="1350" b="0">
                <a:solidFill>
                  <a:srgbClr val="333D44"/>
                </a:solidFill>
                <a:latin typeface="Segoe UI"/>
              </a:rPr>
              <a:t> at the same width (2.62e-03 vs 8.34e-03) — equivariance is paid for in mantissa bits, not exponent range.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The int8 cliff decomposes.</a:t>
            </a:r>
            <a:r>
              <a:rPr sz="1350" b="0">
                <a:solidFill>
                  <a:srgbClr val="333D44"/>
                </a:solidFill>
                <a:latin typeface="Segoe UI"/>
              </a:rPr>
              <a:t> Weight-only quantisation </a:t>
            </a:r>
            <a:r>
              <a:rPr sz="1350" b="0" i="1">
                <a:solidFill>
                  <a:srgbClr val="333D44"/>
                </a:solidFill>
                <a:latin typeface="Segoe UI"/>
              </a:rPr>
              <a:t>preserves</a:t>
            </a:r>
            <a:r>
              <a:rPr sz="1350" b="0">
                <a:solidFill>
                  <a:srgbClr val="333D44"/>
                </a:solidFill>
                <a:latin typeface="Segoe UI"/>
              </a:rPr>
              <a:t> the theorem (3.09e-07) because the encoder is equivariant for any weights. It is </a:t>
            </a:r>
            <a:r>
              <a:rPr sz="1350" b="1">
                <a:solidFill>
                  <a:srgbClr val="333D44"/>
                </a:solidFill>
                <a:latin typeface="Segoe UI"/>
              </a:rPr>
              <a:t>activation</a:t>
            </a:r>
            <a:r>
              <a:rPr sz="1350" b="0">
                <a:solidFill>
                  <a:srgbClr val="333D44"/>
                </a:solidFill>
                <a:latin typeface="Segoe UI"/>
              </a:rPr>
              <a:t> quantisation that breaks it (3.38e-02): round(ρ(g)v) ≠ ρ(g)round(v).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333D44"/>
                </a:solidFill>
                <a:latin typeface="Segoe UI"/>
              </a:rPr>
              <a:t>A trap worth naming.</a:t>
            </a:r>
            <a:r>
              <a:rPr sz="1350" b="0">
                <a:solidFill>
                  <a:srgbClr val="333D44"/>
                </a:solidFill>
                <a:latin typeface="Segoe UI"/>
              </a:rPr>
              <a:t> e3nn builds its Clebsch–Gordan tables at the </a:t>
            </a:r>
            <a:r>
              <a:rPr sz="1350" b="0" i="1">
                <a:solidFill>
                  <a:srgbClr val="333D44"/>
                </a:solidFill>
                <a:latin typeface="Segoe UI"/>
              </a:rPr>
              <a:t>default dtype at construction time</a:t>
            </a:r>
            <a:r>
              <a:rPr sz="1350" b="0">
                <a:solidFill>
                  <a:srgbClr val="333D44"/>
                </a:solidFill>
                <a:latin typeface="Segoe UI"/>
              </a:rPr>
              <a:t>. Calling </a:t>
            </a:r>
            <a:r>
              <a:rPr sz="1250" b="0">
                <a:solidFill>
                  <a:srgbClr val="333D44"/>
                </a:solidFill>
                <a:latin typeface="Consolas"/>
              </a:rPr>
              <a:t>.half()</a:t>
            </a:r>
            <a:r>
              <a:rPr sz="1350" b="0">
                <a:solidFill>
                  <a:srgbClr val="333D44"/>
                </a:solidFill>
                <a:latin typeface="Segoe UI"/>
              </a:rPr>
              <a:t> afterwards leaves them in fp32 and yields a fake certificate — 2.8e-08 instead of the honest 8.5e-15. Every format here is built natively.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src/precision_budget.py · src/int8_quant_budget.py · outputs/precision_budget/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PROBLEM 5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A bidirectional model cannot stream — yet it shipped as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333D44"/>
                </a:solidFill>
                <a:latin typeface="Segoe UI"/>
              </a:rPr>
              <a:t>The contradiction.</a:t>
            </a:r>
            <a:r>
              <a:rPr sz="1500" b="0">
                <a:solidFill>
                  <a:srgbClr val="333D44"/>
                </a:solidFill>
                <a:latin typeface="Segoe UI"/>
              </a:rPr>
              <a:t> The trained classifier was bidirectional with a mean-pool over all frames. It cannot emit a score until the clip ends, so its honest time-to-first-score is the entire recording — while the paper described a real-time system.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333D44"/>
                </a:solidFill>
                <a:latin typeface="Segoe UI"/>
              </a:rPr>
              <a:t>Controlled conversion, one variable.</a:t>
            </a:r>
            <a:r>
              <a:rPr sz="1500" b="0">
                <a:solidFill>
                  <a:srgbClr val="333D44"/>
                </a:solidFill>
                <a:latin typeface="Segoe UI"/>
              </a:rPr>
              <a:t> Freeze the trained encoder and projection; retrain </a:t>
            </a:r>
            <a:r>
              <a:rPr sz="1500" b="0" i="1">
                <a:solidFill>
                  <a:srgbClr val="333D44"/>
                </a:solidFill>
                <a:latin typeface="Segoe UI"/>
              </a:rPr>
              <a:t>only</a:t>
            </a:r>
            <a:r>
              <a:rPr sz="1500" b="0">
                <a:solidFill>
                  <a:srgbClr val="333D44"/>
                </a:solidFill>
                <a:latin typeface="Segoe UI"/>
              </a:rPr>
              <a:t> the unidirectional GRU and head, behind a causal running-mean read-out updated in O(1) per frame. A loader assertion refuses to run if any other parameter moved.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333D44"/>
                </a:solidFill>
                <a:latin typeface="Segoe UI"/>
              </a:rPr>
              <a:t>The cost is measured, not assumed:</a:t>
            </a:r>
            <a:r>
              <a:rPr sz="1500" b="0">
                <a:solidFill>
                  <a:srgbClr val="333D44"/>
                </a:solidFill>
                <a:latin typeface="Segoe UI"/>
              </a:rPr>
              <a:t> 79.81% causal against 82.98% bidirectional on NTU Cross-View — 3.17 points for causality.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333D44"/>
                </a:solidFill>
                <a:latin typeface="Segoe UI"/>
              </a:rPr>
              <a:t>Latency timed on a genuinely incremental single-frame step</a:t>
            </a:r>
            <a:r>
              <a:rPr sz="1500" b="0">
                <a:solidFill>
                  <a:srgbClr val="333D44"/>
                </a:solidFill>
                <a:latin typeface="Segoe UI"/>
              </a:rPr>
              <a:t>, not the vectorised path, which would be a lie about live latency: </a:t>
            </a:r>
            <a:r>
              <a:rPr sz="1500" b="1">
                <a:solidFill>
                  <a:srgbClr val="333D44"/>
                </a:solidFill>
                <a:latin typeface="Segoe UI"/>
              </a:rPr>
              <a:t>8.9 ms/frame, 112 fps</a:t>
            </a:r>
            <a:r>
              <a:rPr sz="1500" b="0">
                <a:solidFill>
                  <a:srgbClr val="333D44"/>
                </a:solidFill>
                <a:latin typeface="Segoe UI"/>
              </a:rPr>
              <a:t>, p95 9.9 ms, inside the 33.3 ms budget at 30 fps. Median 54 frames to lock on the correct class.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333D44"/>
                </a:solidFill>
                <a:latin typeface="Segoe UI"/>
              </a:rPr>
              <a:t>The engineering that made it runnable on ~6 GB free:</a:t>
            </a:r>
            <a:r>
              <a:rPr sz="1500" b="0">
                <a:solidFill>
                  <a:srgbClr val="333D44"/>
                </a:solidFill>
                <a:latin typeface="Segoe UI"/>
              </a:rPr>
              <a:t> frozen features streamed to an on-disk fp16 memmap via </a:t>
            </a:r>
            <a:r>
              <a:rPr sz="1500" b="0" i="1">
                <a:solidFill>
                  <a:srgbClr val="333D44"/>
                </a:solidFill>
                <a:latin typeface="Segoe UI"/>
              </a:rPr>
              <a:t>buffered writes</a:t>
            </a:r>
            <a:r>
              <a:rPr sz="1500" b="0">
                <a:solidFill>
                  <a:srgbClr val="333D44"/>
                </a:solidFill>
                <a:latin typeface="Segoe UI"/>
              </a:rPr>
              <a:t>, because a writable memmap pins dirty pages in the working set and OOM-killed the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src/train_stream_egru.py · src/ttfs_benchmark.py · outputs/ntu_stream/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FROM THEOREM TO A LAPTOP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The live demo — and the gate that runs before the camera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Pipeline.</a:t>
            </a:r>
            <a:r>
              <a:rPr sz="1550" b="0">
                <a:solidFill>
                  <a:srgbClr val="333D44"/>
                </a:solidFill>
                <a:latin typeface="Segoe UI"/>
              </a:rPr>
              <a:t> Webcam → MediaPipe 33 landmarks → Kinect-25 remap (spine chain synthesised; a single </a:t>
            </a:r>
            <a:r>
              <a:rPr sz="1450" b="0">
                <a:solidFill>
                  <a:srgbClr val="333D44"/>
                </a:solidFill>
                <a:latin typeface="Consolas"/>
              </a:rPr>
              <a:t>AXIS_SIGN</a:t>
            </a:r>
            <a:r>
              <a:rPr sz="1550" b="0">
                <a:solidFill>
                  <a:srgbClr val="333D44"/>
                </a:solidFill>
                <a:latin typeface="Segoe UI"/>
              </a:rPr>
              <a:t> constant owns the Y-flip) → preprocessing byte-matched to the training loader → both models.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No hidden asymmetry.</a:t>
            </a:r>
            <a:r>
              <a:rPr sz="1550" b="0">
                <a:solidFill>
                  <a:srgbClr val="333D44"/>
                </a:solidFill>
                <a:latin typeface="Segoe UI"/>
              </a:rPr>
              <a:t> One </a:t>
            </a:r>
            <a:r>
              <a:rPr sz="1450" b="0">
                <a:solidFill>
                  <a:srgbClr val="333D44"/>
                </a:solidFill>
                <a:latin typeface="Consolas"/>
              </a:rPr>
              <a:t>predict()</a:t>
            </a:r>
            <a:r>
              <a:rPr sz="1550" b="0">
                <a:solidFill>
                  <a:srgbClr val="333D44"/>
                </a:solidFill>
                <a:latin typeface="Segoe UI"/>
              </a:rPr>
              <a:t> call feeds byte-identical samples to the EGRU and the transformer; the transformer is resampled onto its required 100-frame grid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inside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engine, where it is visible, rather than upstream where it would look like a handicap.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Real-time on a booth CPU.</a:t>
            </a:r>
            <a:r>
              <a:rPr sz="1550" b="0">
                <a:solidFill>
                  <a:srgbClr val="333D44"/>
                </a:solidFill>
                <a:latin typeface="Segoe UI"/>
              </a:rPr>
              <a:t> Camera loop runs every frame, inference every 6th (≈6 Hz score updates), over a 64-frame bounded ring buffer — one </a:t>
            </a:r>
            <a:r>
              <a:rPr sz="1450" b="0">
                <a:solidFill>
                  <a:srgbClr val="333D44"/>
                </a:solidFill>
                <a:latin typeface="Consolas"/>
              </a:rPr>
              <a:t>--infer-every</a:t>
            </a:r>
            <a:r>
              <a:rPr sz="1550" b="0">
                <a:solidFill>
                  <a:srgbClr val="333D44"/>
                </a:solidFill>
                <a:latin typeface="Segoe UI"/>
              </a:rPr>
              <a:t> knob for a slow machine.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gate runs first.</a:t>
            </a:r>
            <a:r>
              <a:rPr sz="1550" b="0">
                <a:solidFill>
                  <a:srgbClr val="333D44"/>
                </a:solidFill>
                <a:latin typeface="Segoe UI"/>
              </a:rPr>
              <a:t> </a:t>
            </a:r>
            <a:r>
              <a:rPr sz="1450" b="0">
                <a:solidFill>
                  <a:srgbClr val="333D44"/>
                </a:solidFill>
                <a:latin typeface="Consolas"/>
              </a:rPr>
              <a:t>smoke_test.py</a:t>
            </a:r>
            <a:r>
              <a:rPr sz="1550" b="0">
                <a:solidFill>
                  <a:srgbClr val="333D44"/>
                </a:solidFill>
                <a:latin typeface="Segoe UI"/>
              </a:rPr>
              <a:t> re-measures the thesis on a synthetic body before any camera is touched, and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asserts</a:t>
            </a:r>
            <a:r>
              <a:rPr sz="1550" b="0">
                <a:solidFill>
                  <a:srgbClr val="333D44"/>
                </a:solidFill>
                <a:latin typeface="Segoe UI"/>
              </a:rPr>
              <a:t> it: EGRU 3.76e-05 against PCT 8.02, tolerance 1e-03. If it passes, every later failure is plumbing rather than science.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Honest about the residual.</a:t>
            </a:r>
            <a:r>
              <a:rPr sz="1550" b="0">
                <a:solidFill>
                  <a:srgbClr val="333D44"/>
                </a:solidFill>
                <a:latin typeface="Segoe UI"/>
              </a:rPr>
              <a:t> A real screen-to-webcam sweep over 7 physical viewpoints gives spreads of 3.19 (EGRU), 3.10 (InvariantGRU) and 6.89 (PCT). The runbook states plainly that EGRU's spread is not zero because the residual is pose-estimation noise, not model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demo/engine.py · demo/smoke_test.py · demo/mp_to_kinect.py · src/variant_b1_score.py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7F6B"/>
                </a:solidFill>
                <a:latin typeface="Segoe UI"/>
              </a:rPr>
              <a:t>KEEPING THE RESULTS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1B262C"/>
                </a:solidFill>
                <a:latin typeface="Segoe UI"/>
              </a:rPr>
              <a:t>One repository, three research threads, one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The problem.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This is a monorepo carrying three live threads at once — the equivariant work, an earlier self-supervised cross-sensor study that ended in a negative result, and an isolated EGNN/canonicalization sandbox. Threads that share a directory can quietly contaminate each other's results.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One source of truth for every published number.</a:t>
            </a:r>
            <a:r>
              <a:rPr sz="1550" b="0">
                <a:solidFill>
                  <a:srgbClr val="333D44"/>
                </a:solidFill>
                <a:latin typeface="Segoe UI"/>
              </a:rPr>
              <a:t> </a:t>
            </a:r>
            <a:r>
              <a:rPr sz="1450" b="0">
                <a:solidFill>
                  <a:srgbClr val="333D44"/>
                </a:solidFill>
                <a:latin typeface="Consolas"/>
              </a:rPr>
              <a:t>aggregate_final.py</a:t>
            </a:r>
            <a:r>
              <a:rPr sz="1550" b="0">
                <a:solidFill>
                  <a:srgbClr val="333D44"/>
                </a:solidFill>
                <a:latin typeface="Segoe UI"/>
              </a:rPr>
              <a:t> regenerates all of them from banked JSON, and </a:t>
            </a:r>
            <a:r>
              <a:rPr sz="1550" b="0" i="1">
                <a:solidFill>
                  <a:srgbClr val="333D44"/>
                </a:solidFill>
                <a:latin typeface="Segoe UI"/>
              </a:rPr>
              <a:t>measures</a:t>
            </a:r>
            <a:r>
              <a:rPr sz="1550" b="0">
                <a:solidFill>
                  <a:srgbClr val="333D44"/>
                </a:solidFill>
                <a:latin typeface="Segoe UI"/>
              </a:rPr>
              <a:t> parameter counts with </a:t>
            </a:r>
            <a:r>
              <a:rPr sz="1450" b="0">
                <a:solidFill>
                  <a:srgbClr val="333D44"/>
                </a:solidFill>
                <a:latin typeface="Consolas"/>
              </a:rPr>
              <a:t>sum(p.numel())</a:t>
            </a:r>
            <a:r>
              <a:rPr sz="1550" b="0">
                <a:solidFill>
                  <a:srgbClr val="333D44"/>
                </a:solidFill>
                <a:latin typeface="Segoe UI"/>
              </a:rPr>
              <a:t> rather than quoting them from memory.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Isolation is asserted, not assumed.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sandbox verifies </a:t>
            </a:r>
            <a:r>
              <a:rPr sz="1450" b="0">
                <a:solidFill>
                  <a:srgbClr val="333D44"/>
                </a:solidFill>
                <a:latin typeface="Consolas"/>
              </a:rPr>
              <a:t>src/</a:t>
            </a:r>
            <a:r>
              <a:rPr sz="1550" b="0">
                <a:solidFill>
                  <a:srgbClr val="333D44"/>
                </a:solidFill>
                <a:latin typeface="Segoe UI"/>
              </a:rPr>
              <a:t> and </a:t>
            </a:r>
            <a:r>
              <a:rPr sz="1450" b="0">
                <a:solidFill>
                  <a:srgbClr val="333D44"/>
                </a:solidFill>
                <a:latin typeface="Consolas"/>
              </a:rPr>
              <a:t>outputs/</a:t>
            </a:r>
            <a:r>
              <a:rPr sz="1550" b="0">
                <a:solidFill>
                  <a:srgbClr val="333D44"/>
                </a:solidFill>
                <a:latin typeface="Segoe UI"/>
              </a:rPr>
              <a:t> are untouched via a size-and-mtime manifest; </a:t>
            </a:r>
            <a:r>
              <a:rPr sz="1450" b="0">
                <a:solidFill>
                  <a:srgbClr val="333D44"/>
                </a:solidFill>
                <a:latin typeface="Consolas"/>
              </a:rPr>
              <a:t>train_rehab246.py</a:t>
            </a:r>
            <a:r>
              <a:rPr sz="1550" b="0">
                <a:solidFill>
                  <a:srgbClr val="333D44"/>
                </a:solidFill>
                <a:latin typeface="Segoe UI"/>
              </a:rPr>
              <a:t> refuses to start unless its output path ends in </a:t>
            </a:r>
            <a:r>
              <a:rPr sz="1450" b="0">
                <a:solidFill>
                  <a:srgbClr val="333D44"/>
                </a:solidFill>
                <a:latin typeface="Consolas"/>
              </a:rPr>
              <a:t>outputs/rehab246</a:t>
            </a:r>
            <a:r>
              <a:rPr sz="1550" b="0">
                <a:solidFill>
                  <a:srgbClr val="333D44"/>
                </a:solidFill>
                <a:latin typeface="Segoe UI"/>
              </a:rPr>
              <a:t>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Reviewer questions answered without retraining wherever possible.</a:t>
            </a:r>
            <a:r>
              <a:rPr sz="1550" b="0">
                <a:solidFill>
                  <a:srgbClr val="333D44"/>
                </a:solidFill>
                <a:latin typeface="Segoe UI"/>
              </a:rPr>
              <a:t> The per-invariant-family ablation zeroes a family while preserving the projection dimension — no retrain, no architecture change, so the anchor value reproduces the published number exactly.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333D44"/>
                </a:solidFill>
                <a:latin typeface="Segoe UI"/>
              </a:rPr>
              <a:t>Deprecation lives in the code, not a changelog.</a:t>
            </a:r>
            <a:r>
              <a:rPr sz="1550" b="0">
                <a:solidFill>
                  <a:srgbClr val="333D44"/>
                </a:solidFill>
                <a:latin typeface="Segoe UI"/>
              </a:rPr>
              <a:t> </a:t>
            </a:r>
            <a:r>
              <a:rPr sz="1450" b="0">
                <a:solidFill>
                  <a:srgbClr val="333D44"/>
                </a:solidFill>
                <a:latin typeface="Consolas"/>
              </a:rPr>
              <a:t>protocol_inflation.py</a:t>
            </a:r>
            <a:r>
              <a:rPr sz="1550" b="0">
                <a:solidFill>
                  <a:srgbClr val="333D44"/>
                </a:solidFill>
                <a:latin typeface="Segoe UI"/>
              </a:rPr>
              <a:t> marks itself </a:t>
            </a:r>
            <a:r>
              <a:rPr sz="1450" b="0">
                <a:solidFill>
                  <a:srgbClr val="333D44"/>
                </a:solidFill>
                <a:latin typeface="Consolas"/>
              </a:rPr>
              <a:t>.. deprecated::</a:t>
            </a:r>
            <a:r>
              <a:rPr sz="1550" b="0">
                <a:solidFill>
                  <a:srgbClr val="333D44"/>
                </a:solidFill>
                <a:latin typeface="Segoe UI"/>
              </a:rPr>
              <a:t> and names its successor, so nobody re-derives a superseded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A848B"/>
                </a:solidFill>
                <a:latin typeface="Consolas"/>
              </a:rPr>
              <a:t>src/aggregate_final.py · src/ablation_invfamily.py · research_egnn/README.md · src/protocol_inflation.py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CD6B6"/>
                </a:solidFill>
                <a:latin typeface="Segoe UI"/>
              </a:rPr>
              <a:t>WHAT GENERALISES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Segoe UI"/>
              </a:rPr>
              <a:t>Six practices that did the actual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10874959" cy="13970"/>
          </a:xfrm>
          <a:prstGeom prst="rect">
            <a:avLst/>
          </a:prstGeom>
          <a:solidFill>
            <a:srgbClr val="2E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874959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Every claim is a gate with a number.</a:t>
            </a:r>
            <a:r>
              <a:rPr sz="1550" b="0">
                <a:solidFill>
                  <a:srgbClr val="C9D6DB"/>
                </a:solidFill>
                <a:latin typeface="Segoe UI"/>
              </a:rPr>
              <a:t> 127 asserts across 36 modules, each with a named threshold and a diagnostic that says which invariant to inspect when it trips.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Build the control that must fail.</a:t>
            </a:r>
            <a:r>
              <a:rPr sz="1550" b="0">
                <a:solidFill>
                  <a:srgbClr val="C9D6DB"/>
                </a:solidFill>
                <a:latin typeface="Segoe UI"/>
              </a:rPr>
              <a:t> A deliberately broken vector field and a mean-predictor floor are what make a passing result informative.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Enforce fairness mechanically.</a:t>
            </a:r>
            <a:r>
              <a:rPr sz="1550" b="0">
                <a:solidFill>
                  <a:srgbClr val="C9D6DB"/>
                </a:solidFill>
                <a:latin typeface="Segoe UI"/>
              </a:rPr>
              <a:t> A SHA-256 input hash beats a promise that both models saw the same data.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Treat determinism as an instrument, not hygiene.</a:t>
            </a:r>
            <a:r>
              <a:rPr sz="1550" b="0">
                <a:solidFill>
                  <a:srgbClr val="C9D6DB"/>
                </a:solidFill>
                <a:latin typeface="Segoe UI"/>
              </a:rPr>
              <a:t> A noise floor you have not measured is a result you cannot defend.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Prefer an honest gap to a fake baseline.</a:t>
            </a:r>
            <a:r>
              <a:rPr sz="1550" b="0">
                <a:solidFill>
                  <a:srgbClr val="C9D6DB"/>
                </a:solidFill>
                <a:latin typeface="Segoe UI"/>
              </a:rPr>
              <a:t> </a:t>
            </a:r>
            <a:r>
              <a:rPr sz="1450" b="0">
                <a:solidFill>
                  <a:srgbClr val="C9D6DB"/>
                </a:solidFill>
                <a:latin typeface="Consolas"/>
              </a:rPr>
              <a:t>build_model('ctrgcn')</a:t>
            </a:r>
            <a:r>
              <a:rPr sz="1550" b="0">
                <a:solidFill>
                  <a:srgbClr val="C9D6DB"/>
                </a:solidFill>
                <a:latin typeface="Segoe UI"/>
              </a:rPr>
              <a:t> raises </a:t>
            </a:r>
            <a:r>
              <a:rPr sz="1450" b="0">
                <a:solidFill>
                  <a:srgbClr val="C9D6DB"/>
                </a:solidFill>
                <a:latin typeface="Consolas"/>
              </a:rPr>
              <a:t>NotImplementedError</a:t>
            </a:r>
            <a:r>
              <a:rPr sz="1550" b="0">
                <a:solidFill>
                  <a:srgbClr val="C9D6DB"/>
                </a:solidFill>
                <a:latin typeface="Segoe UI"/>
              </a:rPr>
              <a:t> with an implementation pointer rather than shipping a weak stand-in.</a:t>
            </a:r>
          </a:p>
          <a:p>
            <a:pPr marL="274320" indent="-274320">
              <a:lnSpc>
                <a:spcPct val="112000"/>
              </a:lnSpc>
              <a:spcAft>
                <a:spcPts val="1100"/>
              </a:spcAft>
              <a:buFont typeface="Arial"/>
              <a:buChar char="•"/>
            </a:pPr>
            <a:r>
              <a:rPr sz="1550" b="1">
                <a:solidFill>
                  <a:srgbClr val="C9D6DB"/>
                </a:solidFill>
                <a:latin typeface="Segoe UI"/>
              </a:rPr>
              <a:t>Ship the negative results, and reverse on measurement.</a:t>
            </a:r>
            <a:r>
              <a:rPr sz="1550" b="0">
                <a:solidFill>
                  <a:srgbClr val="C9D6DB"/>
                </a:solidFill>
                <a:latin typeface="Segoe UI"/>
              </a:rPr>
              <a:t> The EGNN comparison was expected to dilute the thesis and instead supported it; an earlier thread's headline was reversed by a bootstrap over ten subjects.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FB0B8"/>
                </a:solidFill>
                <a:latin typeface="Consolas"/>
              </a:rPr>
              <a:t>docs/planning/wacv_evaluation_and_action_plan.md · research_egnn/FINDINGS.md · docs/reviews/RESPONSE_TO_REVIEWER_R1.md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